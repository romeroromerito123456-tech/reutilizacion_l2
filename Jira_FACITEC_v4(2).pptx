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5" r:id="rId9"/>
    <p:sldId id="267" r:id="rId10"/>
    <p:sldId id="264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2723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s-PY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1280160" cy="1280160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  <p:txBody>
          <a:bodyPr/>
          <a:lstStyle/>
          <a:p>
            <a:endParaRPr lang="es-PY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</a:rPr>
              <a:t>J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B8D9"/>
                </a:solidFill>
              </a:rPr>
              <a:t>JIRA SOFTWARE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Gestión de Proyectos con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Historias de Usuario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3794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B8D9"/>
                </a:solidFill>
              </a:rPr>
              <a:t>Sistema de Gestión Académica FACITEC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206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78C"/>
                </a:solidFill>
              </a:rPr>
              <a:t>Herramientas de Administración de Proyectos de Software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498080" y="-457200"/>
            <a:ext cx="2286000" cy="2286000"/>
          </a:xfrm>
          <a:prstGeom prst="ellipse">
            <a:avLst/>
          </a:prstGeom>
          <a:solidFill>
            <a:srgbClr val="0052CC">
              <a:alpha val="20000"/>
            </a:srgbClr>
          </a:solidFill>
          <a:ln w="12700">
            <a:solidFill>
              <a:srgbClr val="0052C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PY"/>
          </a:p>
        </p:txBody>
      </p:sp>
      <p:sp>
        <p:nvSpPr>
          <p:cNvPr id="10" name="Shape 8"/>
          <p:cNvSpPr/>
          <p:nvPr/>
        </p:nvSpPr>
        <p:spPr>
          <a:xfrm>
            <a:off x="8046720" y="3200400"/>
            <a:ext cx="1645920" cy="1645920"/>
          </a:xfrm>
          <a:prstGeom prst="ellipse">
            <a:avLst/>
          </a:prstGeom>
          <a:solidFill>
            <a:srgbClr val="00B8D9">
              <a:alpha val="25000"/>
            </a:srgbClr>
          </a:solidFill>
          <a:ln w="12700">
            <a:solidFill>
              <a:srgbClr val="00B8D9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PY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  <p:txBody>
          <a:bodyPr/>
          <a:lstStyle/>
          <a:p>
            <a:endParaRPr lang="es-PY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¿QUÉ ES JIRA SOFTWARE?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114800" cy="1508760"/>
          </a:xfrm>
          <a:prstGeom prst="rect">
            <a:avLst/>
          </a:prstGeom>
          <a:solidFill>
            <a:srgbClr val="F4F5F7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PY"/>
          </a:p>
        </p:txBody>
      </p:sp>
      <p:sp>
        <p:nvSpPr>
          <p:cNvPr id="5" name="Text 3"/>
          <p:cNvSpPr/>
          <p:nvPr/>
        </p:nvSpPr>
        <p:spPr>
          <a:xfrm>
            <a:off x="502920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12801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2CC"/>
                </a:solidFill>
              </a:rPr>
              <a:t>¿Qué es Jira?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16459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72B4D"/>
                </a:solidFill>
              </a:rPr>
              <a:t>Herramienta de gestión de proyectos líder del sector que reúne a todos los equipos para planificar, supervisar y entregar cualquier tipo de proyecto con confianza.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143000"/>
            <a:ext cx="4114800" cy="1508760"/>
          </a:xfrm>
          <a:prstGeom prst="rect">
            <a:avLst/>
          </a:prstGeom>
          <a:solidFill>
            <a:srgbClr val="F4F5F7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PY"/>
          </a:p>
        </p:txBody>
      </p:sp>
      <p:sp>
        <p:nvSpPr>
          <p:cNvPr id="9" name="Text 7"/>
          <p:cNvSpPr/>
          <p:nvPr/>
        </p:nvSpPr>
        <p:spPr>
          <a:xfrm>
            <a:off x="4983480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669280" y="12801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2CC"/>
                </a:solidFill>
              </a:rPr>
              <a:t>Fuente única de información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0" y="16459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72B4D"/>
                </a:solidFill>
              </a:rPr>
              <a:t>Permite a los equipos moverse con rapidez dentro del contexto y permanecer conectados con una estrategia empresarial más amplia.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880360"/>
            <a:ext cx="4114800" cy="1508760"/>
          </a:xfrm>
          <a:prstGeom prst="rect">
            <a:avLst/>
          </a:prstGeom>
          <a:solidFill>
            <a:srgbClr val="F4F5F7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PY"/>
          </a:p>
        </p:txBody>
      </p:sp>
      <p:sp>
        <p:nvSpPr>
          <p:cNvPr id="13" name="Text 11"/>
          <p:cNvSpPr/>
          <p:nvPr/>
        </p:nvSpPr>
        <p:spPr>
          <a:xfrm>
            <a:off x="502920" y="3017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188720" y="30175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2CC"/>
                </a:solidFill>
              </a:rPr>
              <a:t>Gestión cotidiana y escala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338328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72B4D"/>
                </a:solidFill>
              </a:rPr>
              <a:t>Desde tareas cotidianas hasta proyectos complejos: Jira es el lugar donde los equipos y la IA se unen para obtener mejores resultados con mayor rapidez.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2880360"/>
            <a:ext cx="4114800" cy="1508760"/>
          </a:xfrm>
          <a:prstGeom prst="rect">
            <a:avLst/>
          </a:prstGeom>
          <a:solidFill>
            <a:srgbClr val="F4F5F7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PY"/>
          </a:p>
        </p:txBody>
      </p:sp>
      <p:sp>
        <p:nvSpPr>
          <p:cNvPr id="17" name="Text 15"/>
          <p:cNvSpPr/>
          <p:nvPr/>
        </p:nvSpPr>
        <p:spPr>
          <a:xfrm>
            <a:off x="4983480" y="3017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🔗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669280" y="30175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2CC"/>
                </a:solidFill>
              </a:rPr>
              <a:t>Ecosistema Atlassian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669280" y="338328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72B4D"/>
                </a:solidFill>
              </a:rPr>
              <a:t>Se integra con Confluence, Trello, Bitbucket y más de 3,000 aplicaciones. Lanzado en 2002, hoy es usado por más de 300,000 organizaciones en todo el mundo.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s-PY"/>
          </a:p>
        </p:txBody>
      </p:sp>
      <p:sp>
        <p:nvSpPr>
          <p:cNvPr id="21" name="Text 19"/>
          <p:cNvSpPr/>
          <p:nvPr/>
        </p:nvSpPr>
        <p:spPr>
          <a:xfrm>
            <a:off x="365760" y="4846320"/>
            <a:ext cx="84124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Fuente: Atlassian — atlassian.com/es/software/jira/guides/getting-started/introduction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Historia y Evolucion de Jir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s-PY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B8D9"/>
                </a:solidFill>
              </a:rPr>
              <a:t>ORIGEN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Historia y Evolución de Jira Software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57200" cy="457200"/>
          </a:xfrm>
          <a:prstGeom prst="ellipse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  <p:txBody>
          <a:bodyPr/>
          <a:lstStyle/>
          <a:p>
            <a:endParaRPr lang="es-PY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60120" y="1051560"/>
            <a:ext cx="7772400" cy="457200"/>
          </a:xfrm>
          <a:prstGeom prst="rect">
            <a:avLst/>
          </a:prstGeom>
          <a:solidFill>
            <a:srgbClr val="F4F5F7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PY"/>
          </a:p>
        </p:txBody>
      </p:sp>
      <p:sp>
        <p:nvSpPr>
          <p:cNvPr id="8" name="Text 6"/>
          <p:cNvSpPr/>
          <p:nvPr/>
        </p:nvSpPr>
        <p:spPr>
          <a:xfrm>
            <a:off x="1097280" y="10515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2B4D"/>
                </a:solidFill>
              </a:rPr>
              <a:t>2002 — Atlassian funda Jira como sistema de seguimiento de errores (bug tracker) para equipos de software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801368"/>
            <a:ext cx="457200" cy="457200"/>
          </a:xfrm>
          <a:prstGeom prst="ellipse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  <p:txBody>
          <a:bodyPr/>
          <a:lstStyle/>
          <a:p>
            <a:endParaRPr lang="es-PY"/>
          </a:p>
        </p:txBody>
      </p:sp>
      <p:sp>
        <p:nvSpPr>
          <p:cNvPr id="10" name="Text 8"/>
          <p:cNvSpPr/>
          <p:nvPr/>
        </p:nvSpPr>
        <p:spPr>
          <a:xfrm>
            <a:off x="365760" y="1801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60120" y="1801368"/>
            <a:ext cx="7772400" cy="457200"/>
          </a:xfrm>
          <a:prstGeom prst="rect">
            <a:avLst/>
          </a:prstGeom>
          <a:solidFill>
            <a:srgbClr val="F4F5F7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PY"/>
          </a:p>
        </p:txBody>
      </p:sp>
      <p:sp>
        <p:nvSpPr>
          <p:cNvPr id="12" name="Text 10"/>
          <p:cNvSpPr/>
          <p:nvPr/>
        </p:nvSpPr>
        <p:spPr>
          <a:xfrm>
            <a:off x="1097280" y="180136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2B4D"/>
                </a:solidFill>
              </a:rPr>
              <a:t>2009 — Evoluciona hacia la gestión de proyectos ágiles, incorporando tableros Scrum y Kanban nativos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551176"/>
            <a:ext cx="457200" cy="457200"/>
          </a:xfrm>
          <a:prstGeom prst="ellipse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  <p:txBody>
          <a:bodyPr/>
          <a:lstStyle/>
          <a:p>
            <a:endParaRPr lang="es-PY"/>
          </a:p>
        </p:txBody>
      </p:sp>
      <p:sp>
        <p:nvSpPr>
          <p:cNvPr id="14" name="Text 12"/>
          <p:cNvSpPr/>
          <p:nvPr/>
        </p:nvSpPr>
        <p:spPr>
          <a:xfrm>
            <a:off x="365760" y="25511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60120" y="2551176"/>
            <a:ext cx="7772400" cy="457200"/>
          </a:xfrm>
          <a:prstGeom prst="rect">
            <a:avLst/>
          </a:prstGeom>
          <a:solidFill>
            <a:srgbClr val="F4F5F7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PY"/>
          </a:p>
        </p:txBody>
      </p:sp>
      <p:sp>
        <p:nvSpPr>
          <p:cNvPr id="16" name="Text 14"/>
          <p:cNvSpPr/>
          <p:nvPr/>
        </p:nvSpPr>
        <p:spPr>
          <a:xfrm>
            <a:off x="1097280" y="2551176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2B4D"/>
                </a:solidFill>
              </a:rPr>
              <a:t>2015 — Jira Cloud llega a la nube, permitiendo acceso desde cualquier lugar sin infraestructura propia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300984"/>
            <a:ext cx="457200" cy="457200"/>
          </a:xfrm>
          <a:prstGeom prst="ellipse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  <p:txBody>
          <a:bodyPr/>
          <a:lstStyle/>
          <a:p>
            <a:endParaRPr lang="es-PY"/>
          </a:p>
        </p:txBody>
      </p:sp>
      <p:sp>
        <p:nvSpPr>
          <p:cNvPr id="18" name="Text 16"/>
          <p:cNvSpPr/>
          <p:nvPr/>
        </p:nvSpPr>
        <p:spPr>
          <a:xfrm>
            <a:off x="365760" y="33009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60120" y="3300984"/>
            <a:ext cx="7772400" cy="457200"/>
          </a:xfrm>
          <a:prstGeom prst="rect">
            <a:avLst/>
          </a:prstGeom>
          <a:solidFill>
            <a:srgbClr val="F4F5F7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PY"/>
          </a:p>
        </p:txBody>
      </p:sp>
      <p:sp>
        <p:nvSpPr>
          <p:cNvPr id="20" name="Text 18"/>
          <p:cNvSpPr/>
          <p:nvPr/>
        </p:nvSpPr>
        <p:spPr>
          <a:xfrm>
            <a:off x="1097280" y="3300984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2B4D"/>
                </a:solidFill>
              </a:rPr>
              <a:t>2020 — Más de 65,000 empresas y startups en 190 países utilizan Jira como herramienta estándar de gestión ágil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4050792"/>
            <a:ext cx="457200" cy="457200"/>
          </a:xfrm>
          <a:prstGeom prst="ellipse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  <p:txBody>
          <a:bodyPr/>
          <a:lstStyle/>
          <a:p>
            <a:endParaRPr lang="es-PY"/>
          </a:p>
        </p:txBody>
      </p:sp>
      <p:sp>
        <p:nvSpPr>
          <p:cNvPr id="22" name="Text 20"/>
          <p:cNvSpPr/>
          <p:nvPr/>
        </p:nvSpPr>
        <p:spPr>
          <a:xfrm>
            <a:off x="365760" y="4050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60120" y="4050792"/>
            <a:ext cx="7772400" cy="457200"/>
          </a:xfrm>
          <a:prstGeom prst="rect">
            <a:avLst/>
          </a:prstGeom>
          <a:solidFill>
            <a:srgbClr val="F4F5F7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PY"/>
          </a:p>
        </p:txBody>
      </p:sp>
      <p:sp>
        <p:nvSpPr>
          <p:cNvPr id="24" name="Text 22"/>
          <p:cNvSpPr/>
          <p:nvPr/>
        </p:nvSpPr>
        <p:spPr>
          <a:xfrm>
            <a:off x="1097280" y="4050792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2B4D"/>
                </a:solidFill>
              </a:rPr>
              <a:t>Hoy — Herramienta #1 de gestión ágil, con plan gratuito para hasta 10 usuarios e integraciones con +3,000 apps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solidFill>
            <a:srgbClr val="E3F2FD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s-PY"/>
          </a:p>
        </p:txBody>
      </p:sp>
      <p:sp>
        <p:nvSpPr>
          <p:cNvPr id="26" name="Text 24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52CC"/>
                </a:solidFill>
              </a:rPr>
              <a:t>El nombre "Jira" proviene de "Gojira", nombre japonés de Godzilla — referencia interna al rastreador de bugs Bugzilla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s-PY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B8D9"/>
                </a:solidFill>
              </a:rPr>
              <a:t>PASO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Crear las Épicas (Módulos del Sistema)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78C"/>
                </a:solidFill>
              </a:rPr>
              <a:t>Las épicas agrupan historias de usuario relacionadas. Cada módulo del sistema = 1 épica.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52CC"/>
                </a:solidFill>
              </a:rPr>
              <a:t>Cómo crear: Menú → Cronograma → + Crear Epic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822960"/>
          </a:xfrm>
          <a:prstGeom prst="rect">
            <a:avLst/>
          </a:prstGeom>
          <a:solidFill>
            <a:srgbClr val="FFEBEE"/>
          </a:solidFill>
          <a:ln w="12700">
            <a:solidFill>
              <a:srgbClr val="D32F2F"/>
            </a:solidFill>
            <a:prstDash val="solid"/>
          </a:ln>
        </p:spPr>
        <p:txBody>
          <a:bodyPr/>
          <a:lstStyle/>
          <a:p>
            <a:endParaRPr lang="es-PY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73152" cy="822960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  <p:txBody>
          <a:bodyPr/>
          <a:lstStyle/>
          <a:p>
            <a:endParaRPr lang="es-PY"/>
          </a:p>
        </p:txBody>
      </p:sp>
      <p:sp>
        <p:nvSpPr>
          <p:cNvPr id="9" name="Text 7"/>
          <p:cNvSpPr/>
          <p:nvPr/>
        </p:nvSpPr>
        <p:spPr>
          <a:xfrm>
            <a:off x="640080" y="1874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32F2F"/>
                </a:solidFill>
              </a:rPr>
              <a:t>🔴 Módulo Administración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0" y="18745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32F2F"/>
                </a:solidFill>
              </a:rPr>
              <a:t>15 historias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212848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72B4D"/>
                </a:solidFill>
              </a:rPr>
              <a:t>Períodos, carreras, planes, cursos, materias, docentes, alumnos, matrículas, aulas, horarios, usuarios, reportes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788920"/>
            <a:ext cx="8412480" cy="822960"/>
          </a:xfrm>
          <a:prstGeom prst="rect">
            <a:avLst/>
          </a:prstGeom>
          <a:solidFill>
            <a:srgbClr val="E8F5E9"/>
          </a:solidFill>
          <a:ln w="12700">
            <a:solidFill>
              <a:srgbClr val="388E3C"/>
            </a:solidFill>
            <a:prstDash val="solid"/>
          </a:ln>
        </p:spPr>
        <p:txBody>
          <a:bodyPr/>
          <a:lstStyle/>
          <a:p>
            <a:endParaRPr lang="es-PY"/>
          </a:p>
        </p:txBody>
      </p:sp>
      <p:sp>
        <p:nvSpPr>
          <p:cNvPr id="13" name="Shape 11"/>
          <p:cNvSpPr/>
          <p:nvPr/>
        </p:nvSpPr>
        <p:spPr>
          <a:xfrm>
            <a:off x="365760" y="2788920"/>
            <a:ext cx="73152" cy="822960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  <p:txBody>
          <a:bodyPr/>
          <a:lstStyle/>
          <a:p>
            <a:endParaRPr lang="es-PY"/>
          </a:p>
        </p:txBody>
      </p:sp>
      <p:sp>
        <p:nvSpPr>
          <p:cNvPr id="14" name="Text 12"/>
          <p:cNvSpPr/>
          <p:nvPr/>
        </p:nvSpPr>
        <p:spPr>
          <a:xfrm>
            <a:off x="640080" y="2834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8E3C"/>
                </a:solidFill>
              </a:rPr>
              <a:t>🟢 Módulo Docente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0" y="28346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388E3C"/>
                </a:solidFill>
              </a:rPr>
              <a:t>15 historias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172968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72B4D"/>
                </a:solidFill>
              </a:rPr>
              <a:t>Planeamiento, clases, asistencia, notas, justificativos, materiales, cronograma, reportes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749040"/>
            <a:ext cx="8412480" cy="82296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PY"/>
          </a:p>
        </p:txBody>
      </p:sp>
      <p:sp>
        <p:nvSpPr>
          <p:cNvPr id="18" name="Shape 16"/>
          <p:cNvSpPr/>
          <p:nvPr/>
        </p:nvSpPr>
        <p:spPr>
          <a:xfrm>
            <a:off x="365760" y="3749040"/>
            <a:ext cx="73152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PY"/>
          </a:p>
        </p:txBody>
      </p:sp>
      <p:sp>
        <p:nvSpPr>
          <p:cNvPr id="19" name="Text 17"/>
          <p:cNvSpPr/>
          <p:nvPr/>
        </p:nvSpPr>
        <p:spPr>
          <a:xfrm>
            <a:off x="640080" y="3794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</a:rPr>
              <a:t>🔵 Módulo Alumno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0" y="379476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565C0"/>
                </a:solidFill>
              </a:rPr>
              <a:t>15 historias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4133088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72B4D"/>
                </a:solidFill>
              </a:rPr>
              <a:t>Historial, justificativos, horario, calendario, notas, asistencia, matrículas, solicitudes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s-PY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B8D9"/>
                </a:solidFill>
              </a:rPr>
              <a:t>MARCO ÁGIL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Scrum: Metodología Ágil de Sprints y Roles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3931920" cy="3931920"/>
          </a:xfrm>
          <a:prstGeom prst="rect">
            <a:avLst/>
          </a:prstGeom>
          <a:solidFill>
            <a:srgbClr val="F4F5F7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PY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78C"/>
                </a:solidFill>
              </a:rPr>
              <a:t>Marco ágil con Sprints de 1-4 semanas, roles fijos y entrega de valor continua.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463040" y="1417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463040" y="19659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51460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463040" y="2514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306324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463040" y="3063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361188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463040" y="3611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416052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463040" y="4160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0" y="10058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Elementos clave de Scrum en Jira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0" y="1463040"/>
            <a:ext cx="292608" cy="292608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s-PY"/>
          </a:p>
        </p:txBody>
      </p:sp>
      <p:sp>
        <p:nvSpPr>
          <p:cNvPr id="21" name="Text 19"/>
          <p:cNvSpPr/>
          <p:nvPr/>
        </p:nvSpPr>
        <p:spPr>
          <a:xfrm>
            <a:off x="4572000" y="14630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937760" y="143560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72B4D"/>
                </a:solidFill>
              </a:rPr>
              <a:t>Product Backlog: lista priorizada de todo el trabajo pendiente del proyecto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0" y="1965960"/>
            <a:ext cx="292608" cy="292608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s-PY"/>
          </a:p>
        </p:txBody>
      </p:sp>
      <p:sp>
        <p:nvSpPr>
          <p:cNvPr id="24" name="Text 22"/>
          <p:cNvSpPr/>
          <p:nvPr/>
        </p:nvSpPr>
        <p:spPr>
          <a:xfrm>
            <a:off x="4572000" y="19659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937760" y="19385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72B4D"/>
                </a:solidFill>
              </a:rPr>
              <a:t>Sprint: iteración de 1 a 4 semanas con un conjunto de tareas a completar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0" y="2468880"/>
            <a:ext cx="292608" cy="292608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s-PY"/>
          </a:p>
        </p:txBody>
      </p:sp>
      <p:sp>
        <p:nvSpPr>
          <p:cNvPr id="27" name="Text 25"/>
          <p:cNvSpPr/>
          <p:nvPr/>
        </p:nvSpPr>
        <p:spPr>
          <a:xfrm>
            <a:off x="4572000" y="24688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37760" y="244144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72B4D"/>
                </a:solidFill>
              </a:rPr>
              <a:t>Daily Scrum: reunión diaria de 15 min para sincronizar avances del equipo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0" y="2971800"/>
            <a:ext cx="292608" cy="292608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s-PY"/>
          </a:p>
        </p:txBody>
      </p:sp>
      <p:sp>
        <p:nvSpPr>
          <p:cNvPr id="30" name="Text 28"/>
          <p:cNvSpPr/>
          <p:nvPr/>
        </p:nvSpPr>
        <p:spPr>
          <a:xfrm>
            <a:off x="4572000" y="2971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937760" y="294436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72B4D"/>
                </a:solidFill>
              </a:rPr>
              <a:t>Sprint Review: demostración del trabajo completado al final de cada sprint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0" y="3474720"/>
            <a:ext cx="292608" cy="292608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s-PY"/>
          </a:p>
        </p:txBody>
      </p:sp>
      <p:sp>
        <p:nvSpPr>
          <p:cNvPr id="33" name="Text 31"/>
          <p:cNvSpPr/>
          <p:nvPr/>
        </p:nvSpPr>
        <p:spPr>
          <a:xfrm>
            <a:off x="4572000" y="34747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937760" y="344728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72B4D"/>
                </a:solidFill>
              </a:rPr>
              <a:t>Retrospectiva: reflexión del equipo sobre el proceso para mejorar continuamente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0" y="3977640"/>
            <a:ext cx="292608" cy="292608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s-PY"/>
          </a:p>
        </p:txBody>
      </p:sp>
      <p:sp>
        <p:nvSpPr>
          <p:cNvPr id="36" name="Text 34"/>
          <p:cNvSpPr/>
          <p:nvPr/>
        </p:nvSpPr>
        <p:spPr>
          <a:xfrm>
            <a:off x="4572000" y="39776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937760" y="395020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72B4D"/>
                </a:solidFill>
              </a:rPr>
              <a:t>Burndown Chart: gráfico que muestra el trabajo restante vs. tiempo disponible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0" y="4480560"/>
            <a:ext cx="292608" cy="292608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s-PY"/>
          </a:p>
        </p:txBody>
      </p:sp>
      <p:sp>
        <p:nvSpPr>
          <p:cNvPr id="39" name="Text 37"/>
          <p:cNvSpPr/>
          <p:nvPr/>
        </p:nvSpPr>
        <p:spPr>
          <a:xfrm>
            <a:off x="4572000" y="44805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7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937760" y="44531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72B4D"/>
                </a:solidFill>
              </a:rPr>
              <a:t>Velocidad: medida de cuánto trabajo puede completar el equipo por sprint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s-PY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B8D9"/>
                </a:solidFill>
              </a:rPr>
              <a:t>FLUJO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Flujo de Trabajo Ágil con Jira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Ciclo de vida del proyecto: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8D9"/>
                </a:solidFill>
              </a:rPr>
              <a:t>→ </a:t>
            </a:r>
            <a:r>
              <a:rPr lang="en-US" sz="1200" dirty="0">
                <a:solidFill>
                  <a:srgbClr val="172B4D"/>
                </a:solidFill>
              </a:rPr>
              <a:t>Planificación: el equipo define las historias de usuario y las prioriza en el Backlog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71907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8D9"/>
                </a:solidFill>
              </a:rPr>
              <a:t>→ </a:t>
            </a:r>
            <a:r>
              <a:rPr lang="en-US" sz="1200" dirty="0">
                <a:solidFill>
                  <a:srgbClr val="172B4D"/>
                </a:solidFill>
              </a:rPr>
              <a:t>Sprint Planning: se seleccionan las historias a completar en el próximo sprint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066544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8D9"/>
                </a:solidFill>
              </a:rPr>
              <a:t>→ </a:t>
            </a:r>
            <a:r>
              <a:rPr lang="en-US" sz="1200" dirty="0">
                <a:solidFill>
                  <a:srgbClr val="172B4D"/>
                </a:solidFill>
              </a:rPr>
              <a:t>Ejecución: el tablero refleja en tiempo real el estado de cada tarea del equipo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414016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8D9"/>
                </a:solidFill>
              </a:rPr>
              <a:t>→ </a:t>
            </a:r>
            <a:r>
              <a:rPr lang="en-US" sz="1200" dirty="0">
                <a:solidFill>
                  <a:srgbClr val="172B4D"/>
                </a:solidFill>
              </a:rPr>
              <a:t>Revisión y Retrospectiva: se evalúan resultados y se mejora el proceso iterativamente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834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Estados del Tablero: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3246120"/>
            <a:ext cx="1920240" cy="1691640"/>
          </a:xfrm>
          <a:prstGeom prst="rect">
            <a:avLst/>
          </a:prstGeom>
          <a:solidFill>
            <a:srgbClr val="ECEFF1"/>
          </a:solidFill>
          <a:ln w="12700">
            <a:solidFill>
              <a:srgbClr val="607D8B"/>
            </a:solidFill>
            <a:prstDash val="solid"/>
          </a:ln>
        </p:spPr>
        <p:txBody>
          <a:bodyPr/>
          <a:lstStyle/>
          <a:p>
            <a:endParaRPr lang="es-PY"/>
          </a:p>
        </p:txBody>
      </p:sp>
      <p:sp>
        <p:nvSpPr>
          <p:cNvPr id="12" name="Shape 10"/>
          <p:cNvSpPr/>
          <p:nvPr/>
        </p:nvSpPr>
        <p:spPr>
          <a:xfrm>
            <a:off x="365760" y="3246120"/>
            <a:ext cx="1920240" cy="365760"/>
          </a:xfrm>
          <a:prstGeom prst="rect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  <p:txBody>
          <a:bodyPr/>
          <a:lstStyle/>
          <a:p>
            <a:endParaRPr lang="es-PY"/>
          </a:p>
        </p:txBody>
      </p:sp>
      <p:sp>
        <p:nvSpPr>
          <p:cNvPr id="13" name="Text 11"/>
          <p:cNvSpPr/>
          <p:nvPr/>
        </p:nvSpPr>
        <p:spPr>
          <a:xfrm>
            <a:off x="365760" y="32461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POR HACER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" y="3703320"/>
            <a:ext cx="16459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07D8B"/>
            </a:solidFill>
            <a:prstDash val="solid"/>
          </a:ln>
        </p:spPr>
        <p:txBody>
          <a:bodyPr/>
          <a:lstStyle/>
          <a:p>
            <a:endParaRPr lang="es-PY"/>
          </a:p>
        </p:txBody>
      </p:sp>
      <p:sp>
        <p:nvSpPr>
          <p:cNvPr id="15" name="Text 13"/>
          <p:cNvSpPr/>
          <p:nvPr/>
        </p:nvSpPr>
        <p:spPr>
          <a:xfrm>
            <a:off x="502920" y="37033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7D8B"/>
                </a:solidFill>
              </a:rPr>
              <a:t>Tareas nuevas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468880" y="3246120"/>
            <a:ext cx="1920240" cy="1691640"/>
          </a:xfrm>
          <a:prstGeom prst="rect">
            <a:avLst/>
          </a:prstGeom>
          <a:solidFill>
            <a:srgbClr val="E3F2FD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s-PY"/>
          </a:p>
        </p:txBody>
      </p:sp>
      <p:sp>
        <p:nvSpPr>
          <p:cNvPr id="17" name="Shape 15"/>
          <p:cNvSpPr/>
          <p:nvPr/>
        </p:nvSpPr>
        <p:spPr>
          <a:xfrm>
            <a:off x="2468880" y="3246120"/>
            <a:ext cx="1920240" cy="36576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s-PY"/>
          </a:p>
        </p:txBody>
      </p:sp>
      <p:sp>
        <p:nvSpPr>
          <p:cNvPr id="18" name="Text 16"/>
          <p:cNvSpPr/>
          <p:nvPr/>
        </p:nvSpPr>
        <p:spPr>
          <a:xfrm>
            <a:off x="2468880" y="32461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EN CURSO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606040" y="3703320"/>
            <a:ext cx="16459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s-PY"/>
          </a:p>
        </p:txBody>
      </p:sp>
      <p:sp>
        <p:nvSpPr>
          <p:cNvPr id="20" name="Text 18"/>
          <p:cNvSpPr/>
          <p:nvPr/>
        </p:nvSpPr>
        <p:spPr>
          <a:xfrm>
            <a:off x="2606040" y="37033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976D2"/>
                </a:solidFill>
              </a:rPr>
              <a:t>Trabajo activo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0" y="3246120"/>
            <a:ext cx="1920240" cy="1691640"/>
          </a:xfrm>
          <a:prstGeom prst="rect">
            <a:avLst/>
          </a:prstGeom>
          <a:solidFill>
            <a:srgbClr val="FFF8E1"/>
          </a:solidFill>
          <a:ln w="12700">
            <a:solidFill>
              <a:srgbClr val="F57F17"/>
            </a:solidFill>
            <a:prstDash val="solid"/>
          </a:ln>
        </p:spPr>
        <p:txBody>
          <a:bodyPr/>
          <a:lstStyle/>
          <a:p>
            <a:endParaRPr lang="es-PY"/>
          </a:p>
        </p:txBody>
      </p:sp>
      <p:sp>
        <p:nvSpPr>
          <p:cNvPr id="22" name="Shape 20"/>
          <p:cNvSpPr/>
          <p:nvPr/>
        </p:nvSpPr>
        <p:spPr>
          <a:xfrm>
            <a:off x="4572000" y="3246120"/>
            <a:ext cx="1920240" cy="365760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  <p:txBody>
          <a:bodyPr/>
          <a:lstStyle/>
          <a:p>
            <a:endParaRPr lang="es-PY"/>
          </a:p>
        </p:txBody>
      </p:sp>
      <p:sp>
        <p:nvSpPr>
          <p:cNvPr id="23" name="Text 21"/>
          <p:cNvSpPr/>
          <p:nvPr/>
        </p:nvSpPr>
        <p:spPr>
          <a:xfrm>
            <a:off x="4572000" y="32461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EN REVISIÓN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09160" y="3703320"/>
            <a:ext cx="16459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7F17"/>
            </a:solidFill>
            <a:prstDash val="solid"/>
          </a:ln>
        </p:spPr>
        <p:txBody>
          <a:bodyPr/>
          <a:lstStyle/>
          <a:p>
            <a:endParaRPr lang="es-PY"/>
          </a:p>
        </p:txBody>
      </p:sp>
      <p:sp>
        <p:nvSpPr>
          <p:cNvPr id="25" name="Text 23"/>
          <p:cNvSpPr/>
          <p:nvPr/>
        </p:nvSpPr>
        <p:spPr>
          <a:xfrm>
            <a:off x="4709160" y="37033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7F17"/>
                </a:solidFill>
              </a:rPr>
              <a:t>Control de calidad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675120" y="3246120"/>
            <a:ext cx="1920240" cy="1691640"/>
          </a:xfrm>
          <a:prstGeom prst="rect">
            <a:avLst/>
          </a:prstGeom>
          <a:solidFill>
            <a:srgbClr val="E8F5E9"/>
          </a:solidFill>
          <a:ln w="12700">
            <a:solidFill>
              <a:srgbClr val="388E3C"/>
            </a:solidFill>
            <a:prstDash val="solid"/>
          </a:ln>
        </p:spPr>
        <p:txBody>
          <a:bodyPr/>
          <a:lstStyle/>
          <a:p>
            <a:endParaRPr lang="es-PY"/>
          </a:p>
        </p:txBody>
      </p:sp>
      <p:sp>
        <p:nvSpPr>
          <p:cNvPr id="27" name="Shape 25"/>
          <p:cNvSpPr/>
          <p:nvPr/>
        </p:nvSpPr>
        <p:spPr>
          <a:xfrm>
            <a:off x="6675120" y="3246120"/>
            <a:ext cx="1920240" cy="365760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  <p:txBody>
          <a:bodyPr/>
          <a:lstStyle/>
          <a:p>
            <a:endParaRPr lang="es-PY"/>
          </a:p>
        </p:txBody>
      </p:sp>
      <p:sp>
        <p:nvSpPr>
          <p:cNvPr id="28" name="Text 26"/>
          <p:cNvSpPr/>
          <p:nvPr/>
        </p:nvSpPr>
        <p:spPr>
          <a:xfrm>
            <a:off x="6675120" y="32461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FINALIZADO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812280" y="3703320"/>
            <a:ext cx="16459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88E3C"/>
            </a:solidFill>
            <a:prstDash val="solid"/>
          </a:ln>
        </p:spPr>
        <p:txBody>
          <a:bodyPr/>
          <a:lstStyle/>
          <a:p>
            <a:endParaRPr lang="es-PY"/>
          </a:p>
        </p:txBody>
      </p:sp>
      <p:sp>
        <p:nvSpPr>
          <p:cNvPr id="30" name="Text 28"/>
          <p:cNvSpPr/>
          <p:nvPr/>
        </p:nvSpPr>
        <p:spPr>
          <a:xfrm>
            <a:off x="6812280" y="37033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88E3C"/>
                </a:solidFill>
              </a:rPr>
              <a:t>Entregadas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s-PY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RESULTADO FINAL DEL PROYECTO EN JIRA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920240" cy="1371600"/>
          </a:xfrm>
          <a:prstGeom prst="rect">
            <a:avLst/>
          </a:prstGeom>
          <a:solidFill>
            <a:srgbClr val="F4F5F7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PY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052CC"/>
                </a:solidFill>
              </a:rPr>
              <a:t>48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365760" y="17373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78C"/>
                </a:solidFill>
              </a:rPr>
              <a:t>Incidencias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78C"/>
                </a:solidFill>
              </a:rPr>
              <a:t>importadas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68880" y="1005840"/>
            <a:ext cx="1920240" cy="1371600"/>
          </a:xfrm>
          <a:prstGeom prst="rect">
            <a:avLst/>
          </a:prstGeom>
          <a:solidFill>
            <a:srgbClr val="F4F5F7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PY"/>
          </a:p>
        </p:txBody>
      </p:sp>
      <p:sp>
        <p:nvSpPr>
          <p:cNvPr id="8" name="Text 6"/>
          <p:cNvSpPr/>
          <p:nvPr/>
        </p:nvSpPr>
        <p:spPr>
          <a:xfrm>
            <a:off x="2468880" y="10515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D32F2F"/>
                </a:solidFill>
              </a:rPr>
              <a:t>3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2468880" y="17373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78C"/>
                </a:solidFill>
              </a:rPr>
              <a:t>Épicas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78C"/>
                </a:solidFill>
              </a:rPr>
              <a:t>creadas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1005840"/>
            <a:ext cx="1920240" cy="1371600"/>
          </a:xfrm>
          <a:prstGeom prst="rect">
            <a:avLst/>
          </a:prstGeom>
          <a:solidFill>
            <a:srgbClr val="F4F5F7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PY"/>
          </a:p>
        </p:txBody>
      </p:sp>
      <p:sp>
        <p:nvSpPr>
          <p:cNvPr id="11" name="Text 9"/>
          <p:cNvSpPr/>
          <p:nvPr/>
        </p:nvSpPr>
        <p:spPr>
          <a:xfrm>
            <a:off x="4572000" y="10515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388E3C"/>
                </a:solidFill>
              </a:rPr>
              <a:t>45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4572000" y="17373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78C"/>
                </a:solidFill>
              </a:rPr>
              <a:t>Historias de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78C"/>
                </a:solidFill>
              </a:rPr>
              <a:t>usuario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675120" y="1005840"/>
            <a:ext cx="1920240" cy="1371600"/>
          </a:xfrm>
          <a:prstGeom prst="rect">
            <a:avLst/>
          </a:prstGeom>
          <a:solidFill>
            <a:srgbClr val="F4F5F7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PY"/>
          </a:p>
        </p:txBody>
      </p:sp>
      <p:sp>
        <p:nvSpPr>
          <p:cNvPr id="14" name="Text 12"/>
          <p:cNvSpPr/>
          <p:nvPr/>
        </p:nvSpPr>
        <p:spPr>
          <a:xfrm>
            <a:off x="6675120" y="10515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0B8D9"/>
                </a:solidFill>
              </a:rPr>
              <a:t>3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6675120" y="17373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78C"/>
                </a:solidFill>
              </a:rPr>
              <a:t>Módulos del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78C"/>
                </a:solidFill>
              </a:rPr>
              <a:t>sistema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2514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Distribución por módulo: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926080"/>
            <a:ext cx="8412480" cy="566928"/>
          </a:xfrm>
          <a:prstGeom prst="rect">
            <a:avLst/>
          </a:prstGeom>
          <a:solidFill>
            <a:srgbClr val="FFEBEE"/>
          </a:solidFill>
          <a:ln w="12700">
            <a:solidFill>
              <a:srgbClr val="D32F2F"/>
            </a:solidFill>
            <a:prstDash val="solid"/>
          </a:ln>
        </p:spPr>
        <p:txBody>
          <a:bodyPr/>
          <a:lstStyle/>
          <a:p>
            <a:endParaRPr lang="es-PY"/>
          </a:p>
        </p:txBody>
      </p:sp>
      <p:sp>
        <p:nvSpPr>
          <p:cNvPr id="18" name="Shape 16"/>
          <p:cNvSpPr/>
          <p:nvPr/>
        </p:nvSpPr>
        <p:spPr>
          <a:xfrm>
            <a:off x="365760" y="2926080"/>
            <a:ext cx="73152" cy="566928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  <p:txBody>
          <a:bodyPr/>
          <a:lstStyle/>
          <a:p>
            <a:endParaRPr lang="es-PY"/>
          </a:p>
        </p:txBody>
      </p:sp>
      <p:sp>
        <p:nvSpPr>
          <p:cNvPr id="19" name="Text 17"/>
          <p:cNvSpPr/>
          <p:nvPr/>
        </p:nvSpPr>
        <p:spPr>
          <a:xfrm>
            <a:off x="548640" y="296265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32F2F"/>
                </a:solidFill>
              </a:rPr>
              <a:t>Módulo Administración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0" y="296265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32F2F"/>
                </a:solidFill>
              </a:rPr>
              <a:t>15 historias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3218688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72B4D"/>
                </a:solidFill>
              </a:rPr>
              <a:t>Períodos · Carreras · Planes · Cursos · Materias · Docentes · Alumnos · Matrículas · Aulas · Horarios · Listados · Usuarios · Feriados · Reportes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3584448"/>
            <a:ext cx="8412480" cy="566928"/>
          </a:xfrm>
          <a:prstGeom prst="rect">
            <a:avLst/>
          </a:prstGeom>
          <a:solidFill>
            <a:srgbClr val="E8F5E9"/>
          </a:solidFill>
          <a:ln w="12700">
            <a:solidFill>
              <a:srgbClr val="388E3C"/>
            </a:solidFill>
            <a:prstDash val="solid"/>
          </a:ln>
        </p:spPr>
        <p:txBody>
          <a:bodyPr/>
          <a:lstStyle/>
          <a:p>
            <a:endParaRPr lang="es-PY"/>
          </a:p>
        </p:txBody>
      </p:sp>
      <p:sp>
        <p:nvSpPr>
          <p:cNvPr id="23" name="Shape 21"/>
          <p:cNvSpPr/>
          <p:nvPr/>
        </p:nvSpPr>
        <p:spPr>
          <a:xfrm>
            <a:off x="365760" y="3584448"/>
            <a:ext cx="73152" cy="566928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  <p:txBody>
          <a:bodyPr/>
          <a:lstStyle/>
          <a:p>
            <a:endParaRPr lang="es-PY"/>
          </a:p>
        </p:txBody>
      </p:sp>
      <p:sp>
        <p:nvSpPr>
          <p:cNvPr id="24" name="Text 22"/>
          <p:cNvSpPr/>
          <p:nvPr/>
        </p:nvSpPr>
        <p:spPr>
          <a:xfrm>
            <a:off x="548640" y="362102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8E3C"/>
                </a:solidFill>
              </a:rPr>
              <a:t>Módulo Docente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9600" y="3621024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88E3C"/>
                </a:solidFill>
              </a:rPr>
              <a:t>15 historias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3877056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72B4D"/>
                </a:solidFill>
              </a:rPr>
              <a:t>Planeamiento · Clases · Fechas sin clase · Asistencia · Notas · Justificativos · Materiales · Cronograma · Observaciones · Cierre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4242816"/>
            <a:ext cx="8412480" cy="566928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PY"/>
          </a:p>
        </p:txBody>
      </p:sp>
      <p:sp>
        <p:nvSpPr>
          <p:cNvPr id="28" name="Shape 26"/>
          <p:cNvSpPr/>
          <p:nvPr/>
        </p:nvSpPr>
        <p:spPr>
          <a:xfrm>
            <a:off x="365760" y="4242816"/>
            <a:ext cx="73152" cy="5669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PY"/>
          </a:p>
        </p:txBody>
      </p:sp>
      <p:sp>
        <p:nvSpPr>
          <p:cNvPr id="29" name="Text 27"/>
          <p:cNvSpPr/>
          <p:nvPr/>
        </p:nvSpPr>
        <p:spPr>
          <a:xfrm>
            <a:off x="548640" y="427939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</a:rPr>
              <a:t>Módulo Alumno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229600" y="427939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565C0"/>
                </a:solidFill>
              </a:rPr>
              <a:t>15 historias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4535424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72B4D"/>
                </a:solidFill>
              </a:rPr>
              <a:t>Historial · Justificativos · Horario · Calendario · Notas · Asistencia · Matrícula · Notificaciones · Material · Solicitudes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s-PY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B8D9"/>
                </a:solidFill>
              </a:rPr>
              <a:t>COSTOS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Planes y Precios de Jira Software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78C"/>
                </a:solidFill>
              </a:rPr>
              <a:t>Jira ofrece 4 planes escalables. El plan gratuito es totalmente funcional para equipos de hasta 10 usuarios, sin tarjeta de crédito.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841248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PY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8D9"/>
                </a:solidFill>
              </a:rPr>
              <a:t>📋 Plan FREE — $0/mes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Hasta 10 usuarios · 2 GB almacenamiento · 100 automatizaciones/mes · Tableros Scrum y Kanban · Proyectos e historias ilimitadas · Soporte vía comunidad Atlassian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2606040"/>
            <a:ext cx="365760" cy="365760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  <p:txBody>
          <a:bodyPr/>
          <a:lstStyle/>
          <a:p>
            <a:endParaRPr lang="es-PY"/>
          </a:p>
        </p:txBody>
      </p:sp>
      <p:sp>
        <p:nvSpPr>
          <p:cNvPr id="10" name="Text 8"/>
          <p:cNvSpPr/>
          <p:nvPr/>
        </p:nvSpPr>
        <p:spPr>
          <a:xfrm>
            <a:off x="365760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262432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📦 Plan STANDARD — ~$8.15 USD/usuario/mes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26080" y="2624328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78C"/>
                </a:solidFill>
              </a:rPr>
              <a:t>Hasta 20,000 usuarios · 250 GB almacenamiento · 1,700 automatizaciones/mes · Roles y permisos avanzados · Soporte en horario laboral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090672"/>
            <a:ext cx="365760" cy="365760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  <p:txBody>
          <a:bodyPr/>
          <a:lstStyle/>
          <a:p>
            <a:endParaRPr lang="es-PY"/>
          </a:p>
        </p:txBody>
      </p:sp>
      <p:sp>
        <p:nvSpPr>
          <p:cNvPr id="14" name="Text 12"/>
          <p:cNvSpPr/>
          <p:nvPr/>
        </p:nvSpPr>
        <p:spPr>
          <a:xfrm>
            <a:off x="365760" y="30906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31089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🚀 Plan PREMIUM — ~$16 USD/usuario/mes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926080" y="310896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78C"/>
                </a:solidFill>
              </a:rPr>
              <a:t>Todo lo de Standard + almacenamiento ilimitado · Automatización global sin límite · Tiempo de actividad 99.9% · Soporte 24/7 con respuesta en 1 hora · IA integrada Rovo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575304"/>
            <a:ext cx="365760" cy="365760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  <p:txBody>
          <a:bodyPr/>
          <a:lstStyle/>
          <a:p>
            <a:endParaRPr lang="es-PY"/>
          </a:p>
        </p:txBody>
      </p:sp>
      <p:sp>
        <p:nvSpPr>
          <p:cNvPr id="18" name="Text 16"/>
          <p:cNvSpPr/>
          <p:nvPr/>
        </p:nvSpPr>
        <p:spPr>
          <a:xfrm>
            <a:off x="365760" y="3575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359359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🏢 Plan ENTERPRISE — Cotización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926080" y="3593592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78C"/>
                </a:solidFill>
              </a:rPr>
              <a:t>Para +800 usuarios · Múltiples sitios Jira · Seguridad avanzada SSO · Analytics Atlassian · SLA 99.95% · Soporte senior dedicado 24/7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4059936"/>
            <a:ext cx="365760" cy="365760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  <p:txBody>
          <a:bodyPr/>
          <a:lstStyle/>
          <a:p>
            <a:endParaRPr lang="es-PY"/>
          </a:p>
        </p:txBody>
      </p:sp>
      <p:sp>
        <p:nvSpPr>
          <p:cNvPr id="22" name="Text 20"/>
          <p:cNvSpPr/>
          <p:nvPr/>
        </p:nvSpPr>
        <p:spPr>
          <a:xfrm>
            <a:off x="365760" y="40599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" y="407822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💡 Recomendación para FACITEC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926080" y="4078224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78C"/>
                </a:solidFill>
              </a:rPr>
              <a:t>Con hasta 10 usuarios el plan FREE es suficiente. Cubre todos los requerimientos del proyecto académico sin costo alguno.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4544568"/>
            <a:ext cx="365760" cy="365760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  <p:txBody>
          <a:bodyPr/>
          <a:lstStyle/>
          <a:p>
            <a:endParaRPr lang="es-PY"/>
          </a:p>
        </p:txBody>
      </p:sp>
      <p:sp>
        <p:nvSpPr>
          <p:cNvPr id="26" name="Text 24"/>
          <p:cNvSpPr/>
          <p:nvPr/>
        </p:nvSpPr>
        <p:spPr>
          <a:xfrm>
            <a:off x="365760" y="45445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2960" y="456285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926080" y="4562856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s-PY"/>
          </a:p>
        </p:txBody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0052CC">
              <a:alpha val="20000"/>
            </a:srgbClr>
          </a:solidFill>
          <a:ln w="12700">
            <a:solidFill>
              <a:srgbClr val="0052C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PY"/>
          </a:p>
        </p:txBody>
      </p:sp>
      <p:sp>
        <p:nvSpPr>
          <p:cNvPr id="4" name="Shape 2"/>
          <p:cNvSpPr/>
          <p:nvPr/>
        </p:nvSpPr>
        <p:spPr>
          <a:xfrm>
            <a:off x="7498080" y="3474720"/>
            <a:ext cx="2011680" cy="2011680"/>
          </a:xfrm>
          <a:prstGeom prst="ellipse">
            <a:avLst/>
          </a:prstGeom>
          <a:solidFill>
            <a:srgbClr val="00B8D9">
              <a:alpha val="25000"/>
            </a:srgbClr>
          </a:solidFill>
          <a:ln w="12700">
            <a:solidFill>
              <a:srgbClr val="00B8D9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PY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B8D9"/>
                </a:solidFill>
              </a:rPr>
              <a:t>ANÁLISIS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Ventajas y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Desventajas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de Jira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8D9"/>
                </a:solidFill>
              </a:rPr>
              <a:t>✅  Altamente personalizable: flujos, campos y tipos de tarea adaptables a cualquier equipo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33756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✅  Soporte nativo Scrum y Kanban con tableros, backlogs y reportes integrados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74904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✅  +3,000 integraciones: GitHub, Slack, Confluence, Google, Microsoft y más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16052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⚠️  Curva de aprendizaje alta: configuración inicial compleja para equipos no técnicos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78C"/>
                </a:solidFill>
              </a:rPr>
              <a:t>⚠️  Puede resultar excesivo para proyectos simples donde Trello sería suficiente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s-PY"/>
          </a:p>
        </p:txBody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0052CC">
              <a:alpha val="20000"/>
            </a:srgbClr>
          </a:solidFill>
          <a:ln w="12700">
            <a:solidFill>
              <a:srgbClr val="0052C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PY"/>
          </a:p>
        </p:txBody>
      </p:sp>
      <p:sp>
        <p:nvSpPr>
          <p:cNvPr id="4" name="Shape 2"/>
          <p:cNvSpPr/>
          <p:nvPr/>
        </p:nvSpPr>
        <p:spPr>
          <a:xfrm>
            <a:off x="7498080" y="3474720"/>
            <a:ext cx="2011680" cy="2011680"/>
          </a:xfrm>
          <a:prstGeom prst="ellipse">
            <a:avLst/>
          </a:prstGeom>
          <a:solidFill>
            <a:srgbClr val="00B8D9">
              <a:alpha val="25000"/>
            </a:srgbClr>
          </a:solidFill>
          <a:ln w="12700">
            <a:solidFill>
              <a:srgbClr val="00B8D9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PY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B8D9"/>
                </a:solidFill>
              </a:rPr>
              <a:t>CONCLUSIÓN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Jira como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plataforma central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de gestión de proyectos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8D9"/>
                </a:solidFill>
              </a:rPr>
              <a:t>✓  Jira centraliza la planificación, el seguimiento y la entrega de proyectos en una única plataforma colaborativa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33756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✓  Su compatibilidad con Scrum y Kanban permite adaptar la metodología a las necesidades específicas de cada equipo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74904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✓  El plan gratuito para hasta 10 usuarios representa una solución viable y sin costo para entornos académicos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16052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✓  La adopción de herramientas como Jira contribuye a formar competencias profesionales alineadas con la industria del software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78C"/>
                </a:solidFill>
              </a:rPr>
              <a:t>FACITEC — Asignatura: Herramientas de Administración de Proyectos de Software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1097</Words>
  <Application>Microsoft Office PowerPoint</Application>
  <PresentationFormat>Presentación en pantalla (16:9)</PresentationFormat>
  <Paragraphs>148</Paragraphs>
  <Slides>10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Jira Software - Gestión de Proyectos</dc:title>
  <dc:subject>PptxGenJS Presentation</dc:subject>
  <dc:creator>PptxGenJS</dc:creator>
  <cp:lastModifiedBy>USER</cp:lastModifiedBy>
  <cp:revision>2</cp:revision>
  <dcterms:created xsi:type="dcterms:W3CDTF">2026-05-10T14:06:12Z</dcterms:created>
  <dcterms:modified xsi:type="dcterms:W3CDTF">2026-05-22T22:37:42Z</dcterms:modified>
</cp:coreProperties>
</file>